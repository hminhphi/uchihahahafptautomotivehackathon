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9226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37021"/>
          </a:solidFill>
          <a:ln w="7620">
            <a:solidFill>
              <a:srgbClr val="F3702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" y="594360"/>
            <a:ext cx="2148840" cy="256032"/>
          </a:xfrm>
          <a:prstGeom prst="rect">
            <a:avLst/>
          </a:prstGeom>
          <a:solidFill>
            <a:srgbClr val="F37021"/>
          </a:solidFill>
          <a:ln w="7620">
            <a:solidFill>
              <a:srgbClr val="F37021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13232" y="667512"/>
            <a:ext cx="19659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CHUNG KẾT | CHALLENGE #3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621792" y="1188720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9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FLEETIQ</a:t>
            </a:r>
            <a:endParaRPr lang="en-US" sz="3900" dirty="0"/>
          </a:p>
          <a:p>
            <a:pPr indent="0" marL="0">
              <a:buNone/>
            </a:pPr>
            <a:r>
              <a:rPr lang="en-US" sz="39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GUARDIAN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640080" y="2615184"/>
            <a:ext cx="4754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DCE9F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Nền tảng giám sát rủi ro tài xế và va chạm từ xa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40080" y="3328416"/>
            <a:ext cx="4709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FC6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Hợp nhất camera đường, camera tài xế, độ sâu và telemetry thành bằng chứng có thể kiểm tra.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4315968"/>
            <a:ext cx="4663440" cy="822960"/>
          </a:xfrm>
          <a:prstGeom prst="rect">
            <a:avLst/>
          </a:prstGeom>
          <a:solidFill>
            <a:srgbClr val="21367E"/>
          </a:solidFill>
          <a:ln w="7620">
            <a:solidFill>
              <a:srgbClr val="47628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4553712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Challenge #3 là sản phẩm chính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68680" y="4800600"/>
            <a:ext cx="3291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AFC6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Challenge #1 và #2 là hai động cơ bên dưới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6181344" y="1051560"/>
            <a:ext cx="5349240" cy="4251960"/>
          </a:xfrm>
          <a:prstGeom prst="rect">
            <a:avLst/>
          </a:prstGeom>
          <a:solidFill>
            <a:srgbClr val="21367E"/>
          </a:solidFill>
          <a:ln w="7620">
            <a:solidFill>
              <a:srgbClr val="47628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65392" y="1499616"/>
            <a:ext cx="4389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F37021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TỪ TÍN HIỆU ĐẾN HÀNH ĐỘNG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583680" y="2084832"/>
            <a:ext cx="365760" cy="365760"/>
          </a:xfrm>
          <a:prstGeom prst="rect">
            <a:avLst/>
          </a:prstGeom>
          <a:solidFill>
            <a:srgbClr val="034EA2"/>
          </a:solidFill>
          <a:ln w="7620">
            <a:solidFill>
              <a:srgbClr val="034EA2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84264" y="2194560"/>
            <a:ext cx="1645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7269480" y="214884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Phát hiện rủi ro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583680" y="2724912"/>
            <a:ext cx="365760" cy="365760"/>
          </a:xfrm>
          <a:prstGeom prst="rect">
            <a:avLst/>
          </a:prstGeom>
          <a:solidFill>
            <a:srgbClr val="034EA2"/>
          </a:solidFill>
          <a:ln w="7620">
            <a:solidFill>
              <a:srgbClr val="034EA2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84264" y="2834640"/>
            <a:ext cx="1645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7269480" y="278892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Đồng bộ theo khung hình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583680" y="3364992"/>
            <a:ext cx="365760" cy="365760"/>
          </a:xfrm>
          <a:prstGeom prst="rect">
            <a:avLst/>
          </a:prstGeom>
          <a:solidFill>
            <a:srgbClr val="034EA2"/>
          </a:solidFill>
          <a:ln w="7620">
            <a:solidFill>
              <a:srgbClr val="034EA2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84264" y="3474720"/>
            <a:ext cx="1645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7269480" y="342900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Mở bằng chứng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583680" y="4005072"/>
            <a:ext cx="365760" cy="365760"/>
          </a:xfrm>
          <a:prstGeom prst="rect">
            <a:avLst/>
          </a:prstGeom>
          <a:solidFill>
            <a:srgbClr val="F37021"/>
          </a:solidFill>
          <a:ln w="7620">
            <a:solidFill>
              <a:srgbClr val="F37021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84264" y="4114800"/>
            <a:ext cx="1645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4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7269480" y="406908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Đề xuất coaching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" y="5650992"/>
            <a:ext cx="5212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Nhóm UchiHahaha | Phi, Trung, Dũng, Kha, Tú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48640" y="6071616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i="1" dirty="0">
                <a:solidFill>
                  <a:srgbClr val="EAF2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Challenge #3 · evidence-first driver intelligence.</a:t>
            </a:r>
            <a:endParaRPr lang="en-US" sz="980" dirty="0"/>
          </a:p>
        </p:txBody>
      </p:sp>
      <p:sp>
        <p:nvSpPr>
          <p:cNvPr id="27" name="Shape 25"/>
          <p:cNvSpPr/>
          <p:nvPr/>
        </p:nvSpPr>
        <p:spPr>
          <a:xfrm>
            <a:off x="512064" y="6464808"/>
            <a:ext cx="11155680" cy="0"/>
          </a:xfrm>
          <a:prstGeom prst="line">
            <a:avLst/>
          </a:prstGeom>
          <a:noFill/>
          <a:ln w="16510">
            <a:solidFill>
              <a:srgbClr val="47628E"/>
            </a:solidFill>
            <a:prstDash val="solid"/>
            <a:tailEnd type="none"/>
          </a:ln>
        </p:spPr>
      </p:sp>
      <p:sp>
        <p:nvSpPr>
          <p:cNvPr id="28" name="Text 26"/>
          <p:cNvSpPr/>
          <p:nvPr/>
        </p:nvSpPr>
        <p:spPr>
          <a:xfrm>
            <a:off x="548640" y="6556248"/>
            <a:ext cx="7315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AFC6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UchiHahaha | FleetIQ Guardian | AUTOMOTIVE HACKATHON 2026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11027664" y="6510528"/>
            <a:ext cx="5943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37021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37021"/>
          </a:solidFill>
          <a:ln w="7620">
            <a:solidFill>
              <a:srgbClr val="F37021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38912"/>
            <a:ext cx="5486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30" kern="0" dirty="0">
                <a:solidFill>
                  <a:srgbClr val="F37021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BÀI TOÁN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548640" y="694944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VIDEO THÔ KHÔNG TẠO RA QUYẾT ĐỊNH AN TOÀN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57784" y="126187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Quản lý đội xe cần biết chuyến nào cần xem và vì sao.</a:t>
            </a:r>
            <a:endParaRPr lang="en-US" sz="1080" dirty="0"/>
          </a:p>
        </p:txBody>
      </p:sp>
      <p:sp>
        <p:nvSpPr>
          <p:cNvPr id="6" name="Shape 4"/>
          <p:cNvSpPr/>
          <p:nvPr/>
        </p:nvSpPr>
        <p:spPr>
          <a:xfrm>
            <a:off x="512064" y="6464808"/>
            <a:ext cx="11155680" cy="0"/>
          </a:xfrm>
          <a:prstGeom prst="line">
            <a:avLst/>
          </a:prstGeom>
          <a:noFill/>
          <a:ln w="16510">
            <a:solidFill>
              <a:srgbClr val="CDCCCC"/>
            </a:solidFill>
            <a:prstDash val="solid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548640" y="6556248"/>
            <a:ext cx="7315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UchiHahaha | FleetIQ Guardian | AUTOMOTIVE HACKATHON 2026</a:t>
            </a:r>
            <a:endParaRPr lang="en-US" sz="740" dirty="0"/>
          </a:p>
        </p:txBody>
      </p:sp>
      <p:sp>
        <p:nvSpPr>
          <p:cNvPr id="8" name="Text 6"/>
          <p:cNvSpPr/>
          <p:nvPr/>
        </p:nvSpPr>
        <p:spPr>
          <a:xfrm>
            <a:off x="11027664" y="6510528"/>
            <a:ext cx="5943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34EA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58368" y="1865376"/>
            <a:ext cx="3319272" cy="1609344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65376"/>
            <a:ext cx="73152" cy="1609344"/>
          </a:xfrm>
          <a:prstGeom prst="rect">
            <a:avLst/>
          </a:prstGeom>
          <a:solidFill>
            <a:srgbClr val="034EA2"/>
          </a:solidFill>
          <a:ln w="7620">
            <a:solidFill>
              <a:srgbClr val="034EA2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084832"/>
            <a:ext cx="493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34EA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01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914400" y="2578608"/>
            <a:ext cx="2816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DỮ LIỆU PHÂN MẢNH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14400" y="2889504"/>
            <a:ext cx="28072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Road camera, DMS, độ sâu và telemetry đang ở các luồng độc lập.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4425696" y="1865376"/>
            <a:ext cx="3319272" cy="1609344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425696" y="1865376"/>
            <a:ext cx="73152" cy="1609344"/>
          </a:xfrm>
          <a:prstGeom prst="rect">
            <a:avLst/>
          </a:prstGeom>
          <a:solidFill>
            <a:srgbClr val="F37021"/>
          </a:solidFill>
          <a:ln w="7620">
            <a:solidFill>
              <a:srgbClr val="F37021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81728" y="2084832"/>
            <a:ext cx="493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37021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02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4681728" y="2578608"/>
            <a:ext cx="2816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CẢNH BÁO THIẾU NGỮ CẢNH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681728" y="2889504"/>
            <a:ext cx="28072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Một giá trị TTC hay một ảnh đơn lẻ không nói lên toàn bộ sự kiện.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8193024" y="1865376"/>
            <a:ext cx="3319272" cy="1609344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93024" y="1865376"/>
            <a:ext cx="73152" cy="1609344"/>
          </a:xfrm>
          <a:prstGeom prst="rect">
            <a:avLst/>
          </a:prstGeom>
          <a:solidFill>
            <a:srgbClr val="22B573"/>
          </a:solidFill>
          <a:ln w="7620">
            <a:solidFill>
              <a:srgbClr val="22B573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49056" y="2084832"/>
            <a:ext cx="493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2B57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03</a:t>
            </a:r>
            <a:endParaRPr lang="en-US" sz="2300" dirty="0"/>
          </a:p>
        </p:txBody>
      </p:sp>
      <p:sp>
        <p:nvSpPr>
          <p:cNvPr id="22" name="Text 20"/>
          <p:cNvSpPr/>
          <p:nvPr/>
        </p:nvSpPr>
        <p:spPr>
          <a:xfrm>
            <a:off x="8449056" y="2578608"/>
            <a:ext cx="2816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COACHING KHÓ KIỂM TRA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449056" y="2889504"/>
            <a:ext cx="28072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Không có khung hình, thời điểm và lý do thì không thể coaching chính xác.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658368" y="4069080"/>
            <a:ext cx="10853928" cy="1051560"/>
          </a:xfrm>
          <a:prstGeom prst="rect">
            <a:avLst/>
          </a:prstGeom>
          <a:solidFill>
            <a:srgbClr val="19226D"/>
          </a:solidFill>
          <a:ln w="7620">
            <a:solidFill>
              <a:srgbClr val="19226D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4398264"/>
            <a:ext cx="10287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MỤC TIÊU: BIẾN NHIỀU DÒNG DỮ LIỆU THÀNH MỘT HỒ SƠ RỦI RO CÓ THỂ KIỂM TRA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48640" y="6071616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i="1" dirty="0">
                <a:solidFill>
                  <a:srgbClr val="3450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Nhu cầu vận hành: xếp hàng ưu tiên, xem lại sự kiện và gán coaching có bằng chứng.</a:t>
            </a:r>
            <a:endParaRPr lang="en-US" sz="9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37021"/>
          </a:solidFill>
          <a:ln w="7620">
            <a:solidFill>
              <a:srgbClr val="F37021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38912"/>
            <a:ext cx="5486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30" kern="0" dirty="0">
                <a:solidFill>
                  <a:srgbClr val="F37021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GIẢI PHÁP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548640" y="694944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MỘT LỚP HỢP NHẤT CHO ĐỘI XE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57784" y="126187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FleetIQ Guardian biến tín hiệu đa nguồn thành quyết định có thể hành động.</a:t>
            </a:r>
            <a:endParaRPr lang="en-US" sz="1080" dirty="0"/>
          </a:p>
        </p:txBody>
      </p:sp>
      <p:sp>
        <p:nvSpPr>
          <p:cNvPr id="6" name="Shape 4"/>
          <p:cNvSpPr/>
          <p:nvPr/>
        </p:nvSpPr>
        <p:spPr>
          <a:xfrm>
            <a:off x="512064" y="6464808"/>
            <a:ext cx="11155680" cy="0"/>
          </a:xfrm>
          <a:prstGeom prst="line">
            <a:avLst/>
          </a:prstGeom>
          <a:noFill/>
          <a:ln w="16510">
            <a:solidFill>
              <a:srgbClr val="CDCCCC"/>
            </a:solidFill>
            <a:prstDash val="solid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548640" y="6556248"/>
            <a:ext cx="7315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UchiHahaha | FleetIQ Guardian | AUTOMOTIVE HACKATHON 2026</a:t>
            </a:r>
            <a:endParaRPr lang="en-US" sz="740" dirty="0"/>
          </a:p>
        </p:txBody>
      </p:sp>
      <p:sp>
        <p:nvSpPr>
          <p:cNvPr id="8" name="Text 6"/>
          <p:cNvSpPr/>
          <p:nvPr/>
        </p:nvSpPr>
        <p:spPr>
          <a:xfrm>
            <a:off x="11027664" y="6510528"/>
            <a:ext cx="5943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34EA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67512" y="1847088"/>
            <a:ext cx="3246120" cy="1609344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47088"/>
            <a:ext cx="73152" cy="1609344"/>
          </a:xfrm>
          <a:prstGeom prst="rect">
            <a:avLst/>
          </a:prstGeom>
          <a:solidFill>
            <a:srgbClr val="034EA2"/>
          </a:solidFill>
          <a:ln w="7620">
            <a:solidFill>
              <a:srgbClr val="034EA2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23544" y="2066544"/>
            <a:ext cx="493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34EA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01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923544" y="256032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ĐỘNG CƠ HÀNH VI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23544" y="2871216"/>
            <a:ext cx="2734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Tín hiệu attention, handling và làn đường được chuẩn hóa thành sự kiện.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4398264" y="1847088"/>
            <a:ext cx="3246120" cy="1609344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98264" y="1847088"/>
            <a:ext cx="73152" cy="1609344"/>
          </a:xfrm>
          <a:prstGeom prst="rect">
            <a:avLst/>
          </a:prstGeom>
          <a:solidFill>
            <a:srgbClr val="F37021"/>
          </a:solidFill>
          <a:ln w="7620">
            <a:solidFill>
              <a:srgbClr val="F37021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54296" y="2066544"/>
            <a:ext cx="493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37021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02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4654296" y="256032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ĐỘNG CƠ RỦI RO VA CHẠM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654296" y="2871216"/>
            <a:ext cx="2734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Độ sâu, đối tượng dẫn đầu và telemetry tạo ngữ cảnh TTC/near-miss.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8129016" y="1847088"/>
            <a:ext cx="3246120" cy="1609344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29016" y="1847088"/>
            <a:ext cx="73152" cy="1609344"/>
          </a:xfrm>
          <a:prstGeom prst="rect">
            <a:avLst/>
          </a:prstGeom>
          <a:solidFill>
            <a:srgbClr val="22B573"/>
          </a:solidFill>
          <a:ln w="7620">
            <a:solidFill>
              <a:srgbClr val="22B573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85048" y="2066544"/>
            <a:ext cx="493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2B57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03</a:t>
            </a:r>
            <a:endParaRPr lang="en-US" sz="2300" dirty="0"/>
          </a:p>
        </p:txBody>
      </p:sp>
      <p:sp>
        <p:nvSpPr>
          <p:cNvPr id="22" name="Text 20"/>
          <p:cNvSpPr/>
          <p:nvPr/>
        </p:nvSpPr>
        <p:spPr>
          <a:xfrm>
            <a:off x="8385048" y="256032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ĐỘNG CƠ HỢP NHẤT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385048" y="2871216"/>
            <a:ext cx="2734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Liên kết sự kiện, độ tin cậy, giải thích và bằng chứng theo khung hình.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2304288" y="3794760"/>
            <a:ext cx="0" cy="502920"/>
          </a:xfrm>
          <a:prstGeom prst="line">
            <a:avLst/>
          </a:prstGeom>
          <a:noFill/>
          <a:ln w="16510">
            <a:solidFill>
              <a:srgbClr val="034EA2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6035040" y="3794760"/>
            <a:ext cx="0" cy="502920"/>
          </a:xfrm>
          <a:prstGeom prst="line">
            <a:avLst/>
          </a:prstGeom>
          <a:noFill/>
          <a:ln w="16510">
            <a:solidFill>
              <a:srgbClr val="F37021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765792" y="3794760"/>
            <a:ext cx="0" cy="502920"/>
          </a:xfrm>
          <a:prstGeom prst="line">
            <a:avLst/>
          </a:prstGeom>
          <a:noFill/>
          <a:ln w="16510">
            <a:solidFill>
              <a:srgbClr val="22B573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667512" y="4498848"/>
            <a:ext cx="10853928" cy="713232"/>
          </a:xfrm>
          <a:prstGeom prst="rect">
            <a:avLst/>
          </a:prstGeom>
          <a:solidFill>
            <a:srgbClr val="DCE9FA"/>
          </a:solidFill>
          <a:ln w="7620">
            <a:solidFill>
              <a:srgbClr val="034EA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4754880"/>
            <a:ext cx="10332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ĐẦU RA: dashboard đội xe · chuyến đi chi tiết · timeline · evidence · báo cáo coaching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37021"/>
          </a:solidFill>
          <a:ln w="7620">
            <a:solidFill>
              <a:srgbClr val="F37021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38912"/>
            <a:ext cx="5486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30" kern="0" dirty="0">
                <a:solidFill>
                  <a:srgbClr val="F37021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DỮ LIỆU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548640" y="694944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NĂM NHÓM TÍN HIỆU, MỘT DÒNG THỜI GIAN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57784" y="126187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Các tín hiệu được đưa về cùng một dòng thời gian để tạo bối cảnh vận hành.</a:t>
            </a:r>
            <a:endParaRPr lang="en-US" sz="1080" dirty="0"/>
          </a:p>
        </p:txBody>
      </p:sp>
      <p:sp>
        <p:nvSpPr>
          <p:cNvPr id="6" name="Shape 4"/>
          <p:cNvSpPr/>
          <p:nvPr/>
        </p:nvSpPr>
        <p:spPr>
          <a:xfrm>
            <a:off x="512064" y="6464808"/>
            <a:ext cx="11155680" cy="0"/>
          </a:xfrm>
          <a:prstGeom prst="line">
            <a:avLst/>
          </a:prstGeom>
          <a:noFill/>
          <a:ln w="16510">
            <a:solidFill>
              <a:srgbClr val="CDCCCC"/>
            </a:solidFill>
            <a:prstDash val="solid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548640" y="6556248"/>
            <a:ext cx="7315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UchiHahaha | FleetIQ Guardian | AUTOMOTIVE HACKATHON 2026</a:t>
            </a:r>
            <a:endParaRPr lang="en-US" sz="740" dirty="0"/>
          </a:p>
        </p:txBody>
      </p:sp>
      <p:sp>
        <p:nvSpPr>
          <p:cNvPr id="8" name="Text 6"/>
          <p:cNvSpPr/>
          <p:nvPr/>
        </p:nvSpPr>
        <p:spPr>
          <a:xfrm>
            <a:off x="11027664" y="6510528"/>
            <a:ext cx="5943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34EA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30936" y="1901952"/>
            <a:ext cx="1965960" cy="1444752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" y="1901952"/>
            <a:ext cx="73152" cy="1444752"/>
          </a:xfrm>
          <a:prstGeom prst="rect">
            <a:avLst/>
          </a:prstGeom>
          <a:solidFill>
            <a:srgbClr val="034EA2"/>
          </a:solidFill>
          <a:ln w="7620">
            <a:solidFill>
              <a:srgbClr val="034EA2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0392" y="216712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34EA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41248" y="2542032"/>
            <a:ext cx="157276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CAMERA ĐƯỜNG</a:t>
            </a:r>
            <a:endParaRPr lang="en-US" sz="920" dirty="0"/>
          </a:p>
        </p:txBody>
      </p:sp>
      <p:sp>
        <p:nvSpPr>
          <p:cNvPr id="13" name="Text 11"/>
          <p:cNvSpPr/>
          <p:nvPr/>
        </p:nvSpPr>
        <p:spPr>
          <a:xfrm>
            <a:off x="822960" y="2880360"/>
            <a:ext cx="1600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Đối tượng và ngữ cảnh</a:t>
            </a:r>
            <a:endParaRPr lang="en-US" sz="780" dirty="0"/>
          </a:p>
        </p:txBody>
      </p:sp>
      <p:sp>
        <p:nvSpPr>
          <p:cNvPr id="14" name="Shape 12"/>
          <p:cNvSpPr/>
          <p:nvPr/>
        </p:nvSpPr>
        <p:spPr>
          <a:xfrm>
            <a:off x="2889504" y="1901952"/>
            <a:ext cx="1965960" cy="1444752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89504" y="1901952"/>
            <a:ext cx="73152" cy="1444752"/>
          </a:xfrm>
          <a:prstGeom prst="rect">
            <a:avLst/>
          </a:prstGeom>
          <a:solidFill>
            <a:srgbClr val="F37021"/>
          </a:solidFill>
          <a:ln w="7620">
            <a:solidFill>
              <a:srgbClr val="F37021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08960" y="216712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37021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099816" y="2542032"/>
            <a:ext cx="157276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CAMERA TÀI XẾ</a:t>
            </a:r>
            <a:endParaRPr lang="en-US" sz="920" dirty="0"/>
          </a:p>
        </p:txBody>
      </p:sp>
      <p:sp>
        <p:nvSpPr>
          <p:cNvPr id="18" name="Text 16"/>
          <p:cNvSpPr/>
          <p:nvPr/>
        </p:nvSpPr>
        <p:spPr>
          <a:xfrm>
            <a:off x="3081528" y="2880360"/>
            <a:ext cx="1600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Trạng thái attention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5148072" y="1901952"/>
            <a:ext cx="1965960" cy="1444752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148072" y="1901952"/>
            <a:ext cx="73152" cy="1444752"/>
          </a:xfrm>
          <a:prstGeom prst="rect">
            <a:avLst/>
          </a:prstGeom>
          <a:solidFill>
            <a:srgbClr val="034EA2"/>
          </a:solidFill>
          <a:ln w="7620">
            <a:solidFill>
              <a:srgbClr val="034EA2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67528" y="216712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34EA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358384" y="2542032"/>
            <a:ext cx="157276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ĐỘ SÂU + CALIB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5340096" y="2880360"/>
            <a:ext cx="1600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Khoảng cách và TTC</a:t>
            </a:r>
            <a:endParaRPr lang="en-US" sz="780" dirty="0"/>
          </a:p>
        </p:txBody>
      </p:sp>
      <p:sp>
        <p:nvSpPr>
          <p:cNvPr id="24" name="Shape 22"/>
          <p:cNvSpPr/>
          <p:nvPr/>
        </p:nvSpPr>
        <p:spPr>
          <a:xfrm>
            <a:off x="7406640" y="1901952"/>
            <a:ext cx="1965960" cy="1444752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06640" y="1901952"/>
            <a:ext cx="73152" cy="1444752"/>
          </a:xfrm>
          <a:prstGeom prst="rect">
            <a:avLst/>
          </a:prstGeom>
          <a:solidFill>
            <a:srgbClr val="034EA2"/>
          </a:solidFill>
          <a:ln w="7620">
            <a:solidFill>
              <a:srgbClr val="034EA2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26096" y="216712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34EA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616952" y="2542032"/>
            <a:ext cx="157276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TELEMETRY</a:t>
            </a:r>
            <a:endParaRPr lang="en-US" sz="920" dirty="0"/>
          </a:p>
        </p:txBody>
      </p:sp>
      <p:sp>
        <p:nvSpPr>
          <p:cNvPr id="28" name="Text 26"/>
          <p:cNvSpPr/>
          <p:nvPr/>
        </p:nvSpPr>
        <p:spPr>
          <a:xfrm>
            <a:off x="7598664" y="2880360"/>
            <a:ext cx="1600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Tốc độ và handling</a:t>
            </a:r>
            <a:endParaRPr lang="en-US" sz="780" dirty="0"/>
          </a:p>
        </p:txBody>
      </p:sp>
      <p:sp>
        <p:nvSpPr>
          <p:cNvPr id="29" name="Shape 27"/>
          <p:cNvSpPr/>
          <p:nvPr/>
        </p:nvSpPr>
        <p:spPr>
          <a:xfrm>
            <a:off x="9665208" y="1901952"/>
            <a:ext cx="1965960" cy="1444752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665208" y="1901952"/>
            <a:ext cx="73152" cy="1444752"/>
          </a:xfrm>
          <a:prstGeom prst="rect">
            <a:avLst/>
          </a:prstGeom>
          <a:solidFill>
            <a:srgbClr val="034EA2"/>
          </a:solidFill>
          <a:ln w="7620">
            <a:solidFill>
              <a:srgbClr val="034EA2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884664" y="216712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34EA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05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875520" y="2542032"/>
            <a:ext cx="157276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NHÃN + FUSION</a:t>
            </a:r>
            <a:endParaRPr lang="en-US" sz="920" dirty="0"/>
          </a:p>
        </p:txBody>
      </p:sp>
      <p:sp>
        <p:nvSpPr>
          <p:cNvPr id="33" name="Text 31"/>
          <p:cNvSpPr/>
          <p:nvPr/>
        </p:nvSpPr>
        <p:spPr>
          <a:xfrm>
            <a:off x="9857232" y="2880360"/>
            <a:ext cx="1600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Đồng bộ và kiểm tra</a:t>
            </a:r>
            <a:endParaRPr lang="en-US" sz="780" dirty="0"/>
          </a:p>
        </p:txBody>
      </p:sp>
      <p:sp>
        <p:nvSpPr>
          <p:cNvPr id="34" name="Shape 32"/>
          <p:cNvSpPr/>
          <p:nvPr/>
        </p:nvSpPr>
        <p:spPr>
          <a:xfrm>
            <a:off x="640080" y="3977640"/>
            <a:ext cx="10844784" cy="1170432"/>
          </a:xfrm>
          <a:prstGeom prst="rect">
            <a:avLst/>
          </a:prstGeom>
          <a:solidFill>
            <a:srgbClr val="19226D"/>
          </a:solidFill>
          <a:ln w="7620">
            <a:solidFill>
              <a:srgbClr val="19226D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50976" y="431596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7021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10</a:t>
            </a:r>
            <a:endParaRPr lang="en-US" sz="2800" dirty="0"/>
          </a:p>
        </p:txBody>
      </p:sp>
      <p:sp>
        <p:nvSpPr>
          <p:cNvPr id="36" name="Text 34"/>
          <p:cNvSpPr/>
          <p:nvPr/>
        </p:nvSpPr>
        <p:spPr>
          <a:xfrm>
            <a:off x="859536" y="4736592"/>
            <a:ext cx="18288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TRIP REPLAYS</a:t>
            </a:r>
            <a:endParaRPr lang="en-US" sz="740" dirty="0"/>
          </a:p>
        </p:txBody>
      </p:sp>
      <p:sp>
        <p:nvSpPr>
          <p:cNvPr id="37" name="Text 35"/>
          <p:cNvSpPr/>
          <p:nvPr/>
        </p:nvSpPr>
        <p:spPr>
          <a:xfrm>
            <a:off x="3127248" y="4407408"/>
            <a:ext cx="7269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Dữ liệu đa nguồn cho phép chứng minh một sự kiện bằng nhiều góc nhìn, thay vì suy luận từ một tín hiệu duy nhất.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48640" y="6071616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i="1" dirty="0">
                <a:solidFill>
                  <a:srgbClr val="3450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Starter kit: road stereo, driver camera, depth, calibration, telemetry, labels và fusion metadata.</a:t>
            </a:r>
            <a:endParaRPr lang="en-US" sz="9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37021"/>
          </a:solidFill>
          <a:ln w="7620">
            <a:solidFill>
              <a:srgbClr val="F37021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38912"/>
            <a:ext cx="5486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30" kern="0" dirty="0">
                <a:solidFill>
                  <a:srgbClr val="F37021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TRẢI NGHIỆM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548640" y="694944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MỞ TỪ HÀNG ĐỢI, KẾT THÚC Ở BẰNG CHỨNG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57784" y="126187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Quy trình review đi từ danh sách ưu tiên tới coaching.</a:t>
            </a:r>
            <a:endParaRPr lang="en-US" sz="1080" dirty="0"/>
          </a:p>
        </p:txBody>
      </p:sp>
      <p:sp>
        <p:nvSpPr>
          <p:cNvPr id="6" name="Shape 4"/>
          <p:cNvSpPr/>
          <p:nvPr/>
        </p:nvSpPr>
        <p:spPr>
          <a:xfrm>
            <a:off x="512064" y="6464808"/>
            <a:ext cx="11155680" cy="0"/>
          </a:xfrm>
          <a:prstGeom prst="line">
            <a:avLst/>
          </a:prstGeom>
          <a:noFill/>
          <a:ln w="16510">
            <a:solidFill>
              <a:srgbClr val="CDCCCC"/>
            </a:solidFill>
            <a:prstDash val="solid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548640" y="6556248"/>
            <a:ext cx="7315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UchiHahaha | FleetIQ Guardian | AUTOMOTIVE HACKATHON 2026</a:t>
            </a:r>
            <a:endParaRPr lang="en-US" sz="740" dirty="0"/>
          </a:p>
        </p:txBody>
      </p:sp>
      <p:sp>
        <p:nvSpPr>
          <p:cNvPr id="8" name="Text 6"/>
          <p:cNvSpPr/>
          <p:nvPr/>
        </p:nvSpPr>
        <p:spPr>
          <a:xfrm>
            <a:off x="11027664" y="6510528"/>
            <a:ext cx="5943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34EA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58368" y="1847088"/>
            <a:ext cx="2377440" cy="2514600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47088"/>
            <a:ext cx="73152" cy="2514600"/>
          </a:xfrm>
          <a:prstGeom prst="rect">
            <a:avLst/>
          </a:prstGeom>
          <a:solidFill>
            <a:srgbClr val="034EA2"/>
          </a:solidFill>
          <a:ln w="7620">
            <a:solidFill>
              <a:srgbClr val="034EA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2157984"/>
            <a:ext cx="475488" cy="256032"/>
          </a:xfrm>
          <a:prstGeom prst="rect">
            <a:avLst/>
          </a:prstGeom>
          <a:solidFill>
            <a:srgbClr val="034EA2"/>
          </a:solidFill>
          <a:ln w="7620">
            <a:solidFill>
              <a:srgbClr val="034EA2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2231136"/>
            <a:ext cx="29260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01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914400" y="270662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Chọn chuyến cần xem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3456432"/>
            <a:ext cx="1755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Mở điểm an toàn và event liên kết.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3072384" y="3044952"/>
            <a:ext cx="274320" cy="0"/>
          </a:xfrm>
          <a:prstGeom prst="line">
            <a:avLst/>
          </a:prstGeom>
          <a:noFill/>
          <a:ln w="16510">
            <a:solidFill>
              <a:srgbClr val="F37021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419856" y="1847088"/>
            <a:ext cx="2377440" cy="2514600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419856" y="1847088"/>
            <a:ext cx="73152" cy="2514600"/>
          </a:xfrm>
          <a:prstGeom prst="rect">
            <a:avLst/>
          </a:prstGeom>
          <a:solidFill>
            <a:srgbClr val="034EA2"/>
          </a:solidFill>
          <a:ln w="7620">
            <a:solidFill>
              <a:srgbClr val="034EA2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75888" y="2157984"/>
            <a:ext cx="475488" cy="256032"/>
          </a:xfrm>
          <a:prstGeom prst="rect">
            <a:avLst/>
          </a:prstGeom>
          <a:solidFill>
            <a:srgbClr val="034EA2"/>
          </a:solidFill>
          <a:ln w="7620">
            <a:solidFill>
              <a:srgbClr val="034EA2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767328" y="2231136"/>
            <a:ext cx="29260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02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3675888" y="270662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Mở timeline đồng bộ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675888" y="3456432"/>
            <a:ext cx="1755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Road, driver, depth và telemetry cùng frame.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5833872" y="3044952"/>
            <a:ext cx="274320" cy="0"/>
          </a:xfrm>
          <a:prstGeom prst="line">
            <a:avLst/>
          </a:prstGeom>
          <a:noFill/>
          <a:ln w="16510">
            <a:solidFill>
              <a:srgbClr val="F37021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181344" y="1847088"/>
            <a:ext cx="2377440" cy="2514600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181344" y="1847088"/>
            <a:ext cx="73152" cy="2514600"/>
          </a:xfrm>
          <a:prstGeom prst="rect">
            <a:avLst/>
          </a:prstGeom>
          <a:solidFill>
            <a:srgbClr val="034EA2"/>
          </a:solidFill>
          <a:ln w="7620">
            <a:solidFill>
              <a:srgbClr val="034EA2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37376" y="2157984"/>
            <a:ext cx="475488" cy="256032"/>
          </a:xfrm>
          <a:prstGeom prst="rect">
            <a:avLst/>
          </a:prstGeom>
          <a:solidFill>
            <a:srgbClr val="034EA2"/>
          </a:solidFill>
          <a:ln w="7620">
            <a:solidFill>
              <a:srgbClr val="034EA2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28816" y="2231136"/>
            <a:ext cx="29260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03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6437376" y="270662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Kiểm tra evidence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437376" y="3456432"/>
            <a:ext cx="1755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Đối tượng, TTC, trạng thái tài xế và event.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8595360" y="3044952"/>
            <a:ext cx="274320" cy="0"/>
          </a:xfrm>
          <a:prstGeom prst="line">
            <a:avLst/>
          </a:prstGeom>
          <a:noFill/>
          <a:ln w="16510">
            <a:solidFill>
              <a:srgbClr val="F37021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8942832" y="1847088"/>
            <a:ext cx="2377440" cy="2514600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942832" y="1847088"/>
            <a:ext cx="73152" cy="2514600"/>
          </a:xfrm>
          <a:prstGeom prst="rect">
            <a:avLst/>
          </a:prstGeom>
          <a:solidFill>
            <a:srgbClr val="F37021"/>
          </a:solidFill>
          <a:ln w="7620">
            <a:solidFill>
              <a:srgbClr val="F37021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198864" y="2157984"/>
            <a:ext cx="475488" cy="256032"/>
          </a:xfrm>
          <a:prstGeom prst="rect">
            <a:avLst/>
          </a:prstGeom>
          <a:solidFill>
            <a:srgbClr val="F37021"/>
          </a:solidFill>
          <a:ln w="7620">
            <a:solidFill>
              <a:srgbClr val="F37021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290304" y="2231136"/>
            <a:ext cx="29260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04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9198864" y="270662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Giao coaching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9198864" y="3456432"/>
            <a:ext cx="1755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Hành động cụ thể, có liên kết đến bằng chứng.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658368" y="4754880"/>
            <a:ext cx="10844784" cy="457200"/>
          </a:xfrm>
          <a:prstGeom prst="rect">
            <a:avLst/>
          </a:prstGeom>
          <a:solidFill>
            <a:srgbClr val="FFF0E5"/>
          </a:solidFill>
          <a:ln w="7620">
            <a:solidFill>
              <a:srgbClr val="F3702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4901184"/>
            <a:ext cx="103327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Mỗi bước đều mở được một evidence window để người vận hành kiểm tra và hành động.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37021"/>
          </a:solidFill>
          <a:ln w="7620">
            <a:solidFill>
              <a:srgbClr val="F37021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38912"/>
            <a:ext cx="5486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30" kern="0" dirty="0">
                <a:solidFill>
                  <a:srgbClr val="F37021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BẰNG CHỨNG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548640" y="694944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ĐIỀU GÌ ĐANG XẢY RA TRÊN ĐƯỜNG?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57784" y="126187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Một event được kiểm tra từ road risk, driver attention và bối cảnh vận hành.</a:t>
            </a:r>
            <a:endParaRPr lang="en-US" sz="1080" dirty="0"/>
          </a:p>
        </p:txBody>
      </p:sp>
      <p:sp>
        <p:nvSpPr>
          <p:cNvPr id="6" name="Shape 4"/>
          <p:cNvSpPr/>
          <p:nvPr/>
        </p:nvSpPr>
        <p:spPr>
          <a:xfrm>
            <a:off x="512064" y="6464808"/>
            <a:ext cx="11155680" cy="0"/>
          </a:xfrm>
          <a:prstGeom prst="line">
            <a:avLst/>
          </a:prstGeom>
          <a:noFill/>
          <a:ln w="16510">
            <a:solidFill>
              <a:srgbClr val="CDCCCC"/>
            </a:solidFill>
            <a:prstDash val="solid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548640" y="6556248"/>
            <a:ext cx="7315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UchiHahaha | FleetIQ Guardian | AUTOMOTIVE HACKATHON 2026</a:t>
            </a:r>
            <a:endParaRPr lang="en-US" sz="740" dirty="0"/>
          </a:p>
        </p:txBody>
      </p:sp>
      <p:sp>
        <p:nvSpPr>
          <p:cNvPr id="8" name="Text 6"/>
          <p:cNvSpPr/>
          <p:nvPr/>
        </p:nvSpPr>
        <p:spPr>
          <a:xfrm>
            <a:off x="11027664" y="6510528"/>
            <a:ext cx="5943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34EA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1828800"/>
            <a:ext cx="6720840" cy="3337560"/>
          </a:xfrm>
          <a:prstGeom prst="rect">
            <a:avLst/>
          </a:prstGeom>
          <a:solidFill>
            <a:srgbClr val="0B1020"/>
          </a:solidFill>
          <a:ln w="7620">
            <a:solidFill>
              <a:srgbClr val="0B1020">
                <a:alpha val="0"/>
              </a:srgbClr>
            </a:solidFill>
            <a:prstDash val="solid"/>
          </a:ln>
        </p:spPr>
      </p:sp>
      <p:pic>
        <p:nvPicPr>
          <p:cNvPr id="10" name="Image 0" descr="C:\Users\admin\Documents\Projects\AutomotiveHacathon\docs\proposal\assets\t01d-frame-1010-road-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2002536"/>
            <a:ext cx="6391656" cy="2999232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804672" y="4590288"/>
            <a:ext cx="6391656" cy="411480"/>
          </a:xfrm>
          <a:prstGeom prst="rect">
            <a:avLst/>
          </a:prstGeom>
          <a:solidFill>
            <a:srgbClr val="0B1020"/>
          </a:solidFill>
          <a:ln w="7620">
            <a:solidFill>
              <a:srgbClr val="0B1020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0" y="1828800"/>
            <a:ext cx="3822192" cy="914400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0" y="1828800"/>
            <a:ext cx="73152" cy="914400"/>
          </a:xfrm>
          <a:prstGeom prst="rect">
            <a:avLst/>
          </a:prstGeom>
          <a:solidFill>
            <a:srgbClr val="F37021"/>
          </a:solidFill>
          <a:ln w="7620">
            <a:solidFill>
              <a:srgbClr val="F37021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973568" y="2075688"/>
            <a:ext cx="3200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ROAD / XE PHÍA TRƯỚC</a:t>
            </a:r>
            <a:endParaRPr lang="en-US" sz="1120" dirty="0"/>
          </a:p>
        </p:txBody>
      </p:sp>
      <p:sp>
        <p:nvSpPr>
          <p:cNvPr id="15" name="Text 12"/>
          <p:cNvSpPr/>
          <p:nvPr/>
        </p:nvSpPr>
        <p:spPr>
          <a:xfrm>
            <a:off x="7973568" y="2359152"/>
            <a:ext cx="31546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20.40 m · TTC 1.601 s</a:t>
            </a:r>
            <a:endParaRPr lang="en-US" sz="880" dirty="0"/>
          </a:p>
        </p:txBody>
      </p:sp>
      <p:sp>
        <p:nvSpPr>
          <p:cNvPr id="16" name="Shape 13"/>
          <p:cNvSpPr/>
          <p:nvPr/>
        </p:nvSpPr>
        <p:spPr>
          <a:xfrm>
            <a:off x="7680960" y="2907792"/>
            <a:ext cx="3822192" cy="914400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0" y="2907792"/>
            <a:ext cx="73152" cy="914400"/>
          </a:xfrm>
          <a:prstGeom prst="rect">
            <a:avLst/>
          </a:prstGeom>
          <a:solidFill>
            <a:srgbClr val="034EA2"/>
          </a:solidFill>
          <a:ln w="7620">
            <a:solidFill>
              <a:srgbClr val="034EA2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973568" y="3154680"/>
            <a:ext cx="3200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DMS / DRIVER DROWSY</a:t>
            </a:r>
            <a:endParaRPr lang="en-US" sz="1120" dirty="0"/>
          </a:p>
        </p:txBody>
      </p:sp>
      <p:sp>
        <p:nvSpPr>
          <p:cNvPr id="19" name="Text 16"/>
          <p:cNvSpPr/>
          <p:nvPr/>
        </p:nvSpPr>
        <p:spPr>
          <a:xfrm>
            <a:off x="7973568" y="3438144"/>
            <a:ext cx="31546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Trạng thái drowsy · confidence 85%</a:t>
            </a:r>
            <a:endParaRPr lang="en-US" sz="880" dirty="0"/>
          </a:p>
        </p:txBody>
      </p:sp>
      <p:sp>
        <p:nvSpPr>
          <p:cNvPr id="20" name="Shape 17"/>
          <p:cNvSpPr/>
          <p:nvPr/>
        </p:nvSpPr>
        <p:spPr>
          <a:xfrm>
            <a:off x="7680960" y="3986784"/>
            <a:ext cx="3822192" cy="1179576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680960" y="3986784"/>
            <a:ext cx="73152" cy="1179576"/>
          </a:xfrm>
          <a:prstGeom prst="rect">
            <a:avLst/>
          </a:prstGeom>
          <a:solidFill>
            <a:srgbClr val="22B573"/>
          </a:solidFill>
          <a:ln w="7620">
            <a:solidFill>
              <a:srgbClr val="22B573">
                <a:alpha val="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73568" y="4224528"/>
            <a:ext cx="3200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FUSION / RISK EVENT</a:t>
            </a:r>
            <a:endParaRPr lang="en-US" sz="1120" dirty="0"/>
          </a:p>
        </p:txBody>
      </p:sp>
      <p:sp>
        <p:nvSpPr>
          <p:cNvPr id="23" name="Text 20"/>
          <p:cNvSpPr/>
          <p:nvPr/>
        </p:nvSpPr>
        <p:spPr>
          <a:xfrm>
            <a:off x="7973568" y="4489704"/>
            <a:ext cx="3182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Compound risk · TTC ngắn · coaching trigger</a:t>
            </a:r>
            <a:endParaRPr lang="en-US" sz="810" dirty="0"/>
          </a:p>
        </p:txBody>
      </p:sp>
      <p:sp>
        <p:nvSpPr>
          <p:cNvPr id="24" name="Text 21"/>
          <p:cNvSpPr/>
          <p:nvPr/>
        </p:nvSpPr>
        <p:spPr>
          <a:xfrm>
            <a:off x="548640" y="6071616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i="1" dirty="0">
                <a:solidFill>
                  <a:srgbClr val="3450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Trip evidence view · synchronized event context.</a:t>
            </a:r>
            <a:endParaRPr lang="en-US" sz="9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37021"/>
          </a:solidFill>
          <a:ln w="7620">
            <a:solidFill>
              <a:srgbClr val="F37021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38912"/>
            <a:ext cx="5486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30" kern="0" dirty="0">
                <a:solidFill>
                  <a:srgbClr val="F37021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ĐỒNG BỘ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548640" y="694944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CÙNG MỘT KHUNG HÌNH, NHIỀU LỚP BẰNG CHỨNG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57784" y="126187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Khi các tín hiệu cùng frame, reviewer thấy nguyên nhân và hành động.</a:t>
            </a:r>
            <a:endParaRPr lang="en-US" sz="1080" dirty="0"/>
          </a:p>
        </p:txBody>
      </p:sp>
      <p:sp>
        <p:nvSpPr>
          <p:cNvPr id="6" name="Shape 4"/>
          <p:cNvSpPr/>
          <p:nvPr/>
        </p:nvSpPr>
        <p:spPr>
          <a:xfrm>
            <a:off x="512064" y="6464808"/>
            <a:ext cx="11155680" cy="0"/>
          </a:xfrm>
          <a:prstGeom prst="line">
            <a:avLst/>
          </a:prstGeom>
          <a:noFill/>
          <a:ln w="16510">
            <a:solidFill>
              <a:srgbClr val="CDCCCC"/>
            </a:solidFill>
            <a:prstDash val="solid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548640" y="6556248"/>
            <a:ext cx="7315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UchiHahaha | FleetIQ Guardian | AUTOMOTIVE HACKATHON 2026</a:t>
            </a:r>
            <a:endParaRPr lang="en-US" sz="740" dirty="0"/>
          </a:p>
        </p:txBody>
      </p:sp>
      <p:sp>
        <p:nvSpPr>
          <p:cNvPr id="8" name="Text 6"/>
          <p:cNvSpPr/>
          <p:nvPr/>
        </p:nvSpPr>
        <p:spPr>
          <a:xfrm>
            <a:off x="11027664" y="6510528"/>
            <a:ext cx="5943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34EA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85800" y="2029968"/>
            <a:ext cx="1371600" cy="256032"/>
          </a:xfrm>
          <a:prstGeom prst="rect">
            <a:avLst/>
          </a:prstGeom>
          <a:solidFill>
            <a:srgbClr val="034EA2"/>
          </a:solidFill>
          <a:ln w="7620">
            <a:solidFill>
              <a:srgbClr val="034EA2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103120"/>
            <a:ext cx="11887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CAMERA ĐƯỜNG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2359152" y="2258568"/>
            <a:ext cx="7059168" cy="0"/>
          </a:xfrm>
          <a:prstGeom prst="line">
            <a:avLst/>
          </a:prstGeom>
          <a:noFill/>
          <a:ln w="16510">
            <a:solidFill>
              <a:srgbClr val="B9C9DD"/>
            </a:solidFill>
            <a:prstDash val="solid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6236208" y="2130552"/>
            <a:ext cx="237744" cy="237744"/>
          </a:xfrm>
          <a:prstGeom prst="rect">
            <a:avLst/>
          </a:prstGeom>
          <a:solidFill>
            <a:srgbClr val="034EA2"/>
          </a:solidFill>
          <a:ln w="7620">
            <a:solidFill>
              <a:srgbClr val="034EA2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46920" y="2167128"/>
            <a:ext cx="1417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Đối tượng trong làn · khoảng cách · TTC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85800" y="2807208"/>
            <a:ext cx="1371600" cy="256032"/>
          </a:xfrm>
          <a:prstGeom prst="rect">
            <a:avLst/>
          </a:prstGeom>
          <a:solidFill>
            <a:srgbClr val="F37021"/>
          </a:solidFill>
          <a:ln w="7620">
            <a:solidFill>
              <a:srgbClr val="F37021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880360"/>
            <a:ext cx="11887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DMS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2359152" y="3035808"/>
            <a:ext cx="7059168" cy="0"/>
          </a:xfrm>
          <a:prstGeom prst="line">
            <a:avLst/>
          </a:prstGeom>
          <a:noFill/>
          <a:ln w="16510">
            <a:solidFill>
              <a:srgbClr val="B9C9DD"/>
            </a:solidFill>
            <a:prstDash val="solid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6236208" y="2907792"/>
            <a:ext cx="237744" cy="237744"/>
          </a:xfrm>
          <a:prstGeom prst="rect">
            <a:avLst/>
          </a:prstGeom>
          <a:solidFill>
            <a:srgbClr val="F37021"/>
          </a:solidFill>
          <a:ln w="7620">
            <a:solidFill>
              <a:srgbClr val="F37021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46920" y="2944368"/>
            <a:ext cx="1417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Trạng thái tài xế · độ tin cậy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85800" y="3584448"/>
            <a:ext cx="1371600" cy="256032"/>
          </a:xfrm>
          <a:prstGeom prst="rect">
            <a:avLst/>
          </a:prstGeom>
          <a:solidFill>
            <a:srgbClr val="22B573"/>
          </a:solidFill>
          <a:ln w="7620">
            <a:solidFill>
              <a:srgbClr val="22B573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3657600"/>
            <a:ext cx="11887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TELEMETRY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2359152" y="3813048"/>
            <a:ext cx="7059168" cy="0"/>
          </a:xfrm>
          <a:prstGeom prst="line">
            <a:avLst/>
          </a:prstGeom>
          <a:noFill/>
          <a:ln w="16510">
            <a:solidFill>
              <a:srgbClr val="B9C9DD"/>
            </a:solidFill>
            <a:prstDash val="solid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6236208" y="3685032"/>
            <a:ext cx="237744" cy="237744"/>
          </a:xfrm>
          <a:prstGeom prst="rect">
            <a:avLst/>
          </a:prstGeom>
          <a:solidFill>
            <a:srgbClr val="22B573"/>
          </a:solidFill>
          <a:ln w="7620">
            <a:solidFill>
              <a:srgbClr val="22B573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46920" y="3721608"/>
            <a:ext cx="1417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Tốc độ · phanh · góc lái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85800" y="4361688"/>
            <a:ext cx="1371600" cy="256032"/>
          </a:xfrm>
          <a:prstGeom prst="rect">
            <a:avLst/>
          </a:prstGeom>
          <a:solidFill>
            <a:srgbClr val="19226D"/>
          </a:solidFill>
          <a:ln w="7620">
            <a:solidFill>
              <a:srgbClr val="19226D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434840"/>
            <a:ext cx="11887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HỢP NHẤT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2359152" y="4590288"/>
            <a:ext cx="7059168" cy="0"/>
          </a:xfrm>
          <a:prstGeom prst="line">
            <a:avLst/>
          </a:prstGeom>
          <a:noFill/>
          <a:ln w="16510">
            <a:solidFill>
              <a:srgbClr val="B9C9DD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6236208" y="4462272"/>
            <a:ext cx="237744" cy="237744"/>
          </a:xfrm>
          <a:prstGeom prst="rect">
            <a:avLst/>
          </a:prstGeom>
          <a:solidFill>
            <a:srgbClr val="19226D"/>
          </a:solidFill>
          <a:ln w="7620">
            <a:solidFill>
              <a:srgbClr val="19226D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646920" y="4498848"/>
            <a:ext cx="1417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Sự kiện hợp nhất · giải thích · bằng chứng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355080" y="1764792"/>
            <a:ext cx="0" cy="3154680"/>
          </a:xfrm>
          <a:prstGeom prst="line">
            <a:avLst/>
          </a:prstGeom>
          <a:noFill/>
          <a:ln w="16510">
            <a:solidFill>
              <a:srgbClr val="F37021"/>
            </a:solidFill>
            <a:prstDash val="solid"/>
            <a:tailEnd type="none"/>
          </a:ln>
        </p:spPr>
      </p:sp>
      <p:sp>
        <p:nvSpPr>
          <p:cNvPr id="30" name="Shape 28"/>
          <p:cNvSpPr/>
          <p:nvPr/>
        </p:nvSpPr>
        <p:spPr>
          <a:xfrm>
            <a:off x="5769864" y="1609344"/>
            <a:ext cx="1170432" cy="256032"/>
          </a:xfrm>
          <a:prstGeom prst="rect">
            <a:avLst/>
          </a:prstGeom>
          <a:solidFill>
            <a:srgbClr val="F37021"/>
          </a:solidFill>
          <a:ln w="7620">
            <a:solidFill>
              <a:srgbClr val="F37021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861304" y="1682496"/>
            <a:ext cx="98755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SYNC FRAME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359152" y="5212080"/>
            <a:ext cx="8686800" cy="438912"/>
          </a:xfrm>
          <a:prstGeom prst="rect">
            <a:avLst/>
          </a:prstGeom>
          <a:solidFill>
            <a:srgbClr val="19226D"/>
          </a:solidFill>
          <a:ln w="7620">
            <a:solidFill>
              <a:srgbClr val="19226D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624328" y="5358384"/>
            <a:ext cx="81381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KIỂM TRA THEO KHUNG HÌNH: chọn một sự kiện là mở đúng bối cảnh, không suy diễn từ thời điểm khác.</a:t>
            </a:r>
            <a:endParaRPr lang="en-US" sz="880" dirty="0"/>
          </a:p>
        </p:txBody>
      </p:sp>
      <p:sp>
        <p:nvSpPr>
          <p:cNvPr id="34" name="Text 32"/>
          <p:cNvSpPr/>
          <p:nvPr/>
        </p:nvSpPr>
        <p:spPr>
          <a:xfrm>
            <a:off x="548640" y="6071616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i="1" dirty="0">
                <a:solidFill>
                  <a:srgbClr val="3450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Road, DMS, depth và telemetry được mở theo cùng một frame.</a:t>
            </a:r>
            <a:endParaRPr lang="en-US" sz="9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37021"/>
          </a:solidFill>
          <a:ln w="7620">
            <a:solidFill>
              <a:srgbClr val="F37021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38912"/>
            <a:ext cx="5486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30" kern="0" dirty="0">
                <a:solidFill>
                  <a:srgbClr val="F37021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KIẾN TRÚC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548640" y="694944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TỪ NHIỀU TÍN HIỆU ĐẾN MỘT QUYẾT ĐỊNH CÓ BẰNG CHỨNG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57784" y="126187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Pipeline tập trung vào điều quản lý đội xe có thể mở, kiểm tra và hành động.</a:t>
            </a:r>
            <a:endParaRPr lang="en-US" sz="1080" dirty="0"/>
          </a:p>
        </p:txBody>
      </p:sp>
      <p:sp>
        <p:nvSpPr>
          <p:cNvPr id="6" name="Shape 4"/>
          <p:cNvSpPr/>
          <p:nvPr/>
        </p:nvSpPr>
        <p:spPr>
          <a:xfrm>
            <a:off x="512064" y="6464808"/>
            <a:ext cx="11155680" cy="0"/>
          </a:xfrm>
          <a:prstGeom prst="line">
            <a:avLst/>
          </a:prstGeom>
          <a:noFill/>
          <a:ln w="16510">
            <a:solidFill>
              <a:srgbClr val="CDCCCC"/>
            </a:solidFill>
            <a:prstDash val="solid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548640" y="6556248"/>
            <a:ext cx="7315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UchiHahaha | FleetIQ Guardian | AUTOMOTIVE HACKATHON 2026</a:t>
            </a:r>
            <a:endParaRPr lang="en-US" sz="740" dirty="0"/>
          </a:p>
        </p:txBody>
      </p:sp>
      <p:sp>
        <p:nvSpPr>
          <p:cNvPr id="8" name="Text 6"/>
          <p:cNvSpPr/>
          <p:nvPr/>
        </p:nvSpPr>
        <p:spPr>
          <a:xfrm>
            <a:off x="11027664" y="6510528"/>
            <a:ext cx="5943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34EA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58368" y="1783080"/>
            <a:ext cx="1554480" cy="658368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783080"/>
            <a:ext cx="73152" cy="658368"/>
          </a:xfrm>
          <a:prstGeom prst="rect">
            <a:avLst/>
          </a:prstGeom>
          <a:solidFill>
            <a:srgbClr val="034EA2"/>
          </a:solidFill>
          <a:ln w="7620">
            <a:solidFill>
              <a:srgbClr val="034EA2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1984248"/>
            <a:ext cx="12984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1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CAMERA</a:t>
            </a:r>
            <a:endParaRPr lang="en-US" sz="810" dirty="0"/>
          </a:p>
          <a:p>
            <a:pPr algn="ctr" indent="0" marL="0">
              <a:buNone/>
            </a:pPr>
            <a:r>
              <a:rPr lang="en-US" sz="81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ĐƯỜNG</a:t>
            </a:r>
            <a:endParaRPr lang="en-US" sz="810" dirty="0"/>
          </a:p>
        </p:txBody>
      </p:sp>
      <p:sp>
        <p:nvSpPr>
          <p:cNvPr id="12" name="Shape 10"/>
          <p:cNvSpPr/>
          <p:nvPr/>
        </p:nvSpPr>
        <p:spPr>
          <a:xfrm>
            <a:off x="1435608" y="2487168"/>
            <a:ext cx="0" cy="338328"/>
          </a:xfrm>
          <a:prstGeom prst="line">
            <a:avLst/>
          </a:prstGeom>
          <a:noFill/>
          <a:ln w="16510">
            <a:solidFill>
              <a:srgbClr val="034EA2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286000" y="1783080"/>
            <a:ext cx="1554480" cy="658368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86000" y="1783080"/>
            <a:ext cx="73152" cy="658368"/>
          </a:xfrm>
          <a:prstGeom prst="rect">
            <a:avLst/>
          </a:prstGeom>
          <a:solidFill>
            <a:srgbClr val="034EA2"/>
          </a:solidFill>
          <a:ln w="7620">
            <a:solidFill>
              <a:srgbClr val="034EA2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414016" y="1984248"/>
            <a:ext cx="12984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1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ĐỘ SÂU</a:t>
            </a:r>
            <a:endParaRPr lang="en-US" sz="810" dirty="0"/>
          </a:p>
        </p:txBody>
      </p:sp>
      <p:sp>
        <p:nvSpPr>
          <p:cNvPr id="16" name="Shape 14"/>
          <p:cNvSpPr/>
          <p:nvPr/>
        </p:nvSpPr>
        <p:spPr>
          <a:xfrm>
            <a:off x="3063240" y="2487168"/>
            <a:ext cx="0" cy="338328"/>
          </a:xfrm>
          <a:prstGeom prst="line">
            <a:avLst/>
          </a:prstGeom>
          <a:noFill/>
          <a:ln w="16510">
            <a:solidFill>
              <a:srgbClr val="034EA2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148072" y="1783080"/>
            <a:ext cx="1554480" cy="658368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148072" y="1783080"/>
            <a:ext cx="73152" cy="658368"/>
          </a:xfrm>
          <a:prstGeom prst="rect">
            <a:avLst/>
          </a:prstGeom>
          <a:solidFill>
            <a:srgbClr val="F37021"/>
          </a:solidFill>
          <a:ln w="7620">
            <a:solidFill>
              <a:srgbClr val="F37021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76088" y="1984248"/>
            <a:ext cx="12984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1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CAMERA</a:t>
            </a:r>
            <a:endParaRPr lang="en-US" sz="810" dirty="0"/>
          </a:p>
          <a:p>
            <a:pPr algn="ctr" indent="0" marL="0">
              <a:buNone/>
            </a:pPr>
            <a:r>
              <a:rPr lang="en-US" sz="81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TÀI XẾ</a:t>
            </a:r>
            <a:endParaRPr lang="en-US" sz="810" dirty="0"/>
          </a:p>
        </p:txBody>
      </p:sp>
      <p:sp>
        <p:nvSpPr>
          <p:cNvPr id="20" name="Shape 18"/>
          <p:cNvSpPr/>
          <p:nvPr/>
        </p:nvSpPr>
        <p:spPr>
          <a:xfrm>
            <a:off x="5925312" y="2487168"/>
            <a:ext cx="0" cy="338328"/>
          </a:xfrm>
          <a:prstGeom prst="line">
            <a:avLst/>
          </a:prstGeom>
          <a:noFill/>
          <a:ln w="16510">
            <a:solidFill>
              <a:srgbClr val="F37021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8284464" y="1783080"/>
            <a:ext cx="1554480" cy="658368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84464" y="1783080"/>
            <a:ext cx="73152" cy="658368"/>
          </a:xfrm>
          <a:prstGeom prst="rect">
            <a:avLst/>
          </a:prstGeom>
          <a:solidFill>
            <a:srgbClr val="22B573"/>
          </a:solidFill>
          <a:ln w="7620">
            <a:solidFill>
              <a:srgbClr val="22B573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12480" y="1984248"/>
            <a:ext cx="12984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1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TELEMETRY</a:t>
            </a:r>
            <a:endParaRPr lang="en-US" sz="810" dirty="0"/>
          </a:p>
        </p:txBody>
      </p:sp>
      <p:sp>
        <p:nvSpPr>
          <p:cNvPr id="24" name="Shape 22"/>
          <p:cNvSpPr/>
          <p:nvPr/>
        </p:nvSpPr>
        <p:spPr>
          <a:xfrm>
            <a:off x="9061704" y="2487168"/>
            <a:ext cx="0" cy="338328"/>
          </a:xfrm>
          <a:prstGeom prst="line">
            <a:avLst/>
          </a:prstGeom>
          <a:noFill/>
          <a:ln w="16510">
            <a:solidFill>
              <a:srgbClr val="22B573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930384" y="1783080"/>
            <a:ext cx="1554480" cy="658368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930384" y="1783080"/>
            <a:ext cx="73152" cy="658368"/>
          </a:xfrm>
          <a:prstGeom prst="rect">
            <a:avLst/>
          </a:prstGeom>
          <a:solidFill>
            <a:srgbClr val="19226D"/>
          </a:solidFill>
          <a:ln w="7620">
            <a:solidFill>
              <a:srgbClr val="19226D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58400" y="1984248"/>
            <a:ext cx="12984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1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NHÃN +</a:t>
            </a:r>
            <a:endParaRPr lang="en-US" sz="810" dirty="0"/>
          </a:p>
          <a:p>
            <a:pPr algn="ctr" indent="0" marL="0">
              <a:buNone/>
            </a:pPr>
            <a:r>
              <a:rPr lang="en-US" sz="81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FUSION</a:t>
            </a:r>
            <a:endParaRPr lang="en-US" sz="810" dirty="0"/>
          </a:p>
        </p:txBody>
      </p:sp>
      <p:sp>
        <p:nvSpPr>
          <p:cNvPr id="28" name="Shape 26"/>
          <p:cNvSpPr/>
          <p:nvPr/>
        </p:nvSpPr>
        <p:spPr>
          <a:xfrm>
            <a:off x="10707624" y="2487168"/>
            <a:ext cx="0" cy="338328"/>
          </a:xfrm>
          <a:prstGeom prst="line">
            <a:avLst/>
          </a:prstGeom>
          <a:noFill/>
          <a:ln w="16510">
            <a:solidFill>
              <a:srgbClr val="19226D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749808" y="2907792"/>
            <a:ext cx="3127248" cy="1024128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49808" y="2907792"/>
            <a:ext cx="73152" cy="1024128"/>
          </a:xfrm>
          <a:prstGeom prst="rect">
            <a:avLst/>
          </a:prstGeom>
          <a:solidFill>
            <a:srgbClr val="F37021"/>
          </a:solidFill>
          <a:ln w="7620">
            <a:solidFill>
              <a:srgbClr val="F37021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96696" y="3200400"/>
            <a:ext cx="2633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TTC + NEAR-MISS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1005840" y="3547872"/>
            <a:ext cx="259689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Khoảng cách và object</a:t>
            </a:r>
            <a:endParaRPr lang="en-US" sz="820" dirty="0"/>
          </a:p>
        </p:txBody>
      </p:sp>
      <p:sp>
        <p:nvSpPr>
          <p:cNvPr id="33" name="Shape 31"/>
          <p:cNvSpPr/>
          <p:nvPr/>
        </p:nvSpPr>
        <p:spPr>
          <a:xfrm>
            <a:off x="2313432" y="3977640"/>
            <a:ext cx="0" cy="338328"/>
          </a:xfrm>
          <a:prstGeom prst="line">
            <a:avLst/>
          </a:prstGeom>
          <a:noFill/>
          <a:ln w="16510">
            <a:solidFill>
              <a:srgbClr val="F37021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4517136" y="2907792"/>
            <a:ext cx="3127248" cy="1024128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17136" y="2907792"/>
            <a:ext cx="73152" cy="1024128"/>
          </a:xfrm>
          <a:prstGeom prst="rect">
            <a:avLst/>
          </a:prstGeom>
          <a:solidFill>
            <a:srgbClr val="034EA2"/>
          </a:solidFill>
          <a:ln w="7620">
            <a:solidFill>
              <a:srgbClr val="034EA2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64024" y="3200400"/>
            <a:ext cx="2633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DRIVER STATE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773168" y="3547872"/>
            <a:ext cx="259689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Attention và DMS</a:t>
            </a:r>
            <a:endParaRPr lang="en-US" sz="820" dirty="0"/>
          </a:p>
        </p:txBody>
      </p:sp>
      <p:sp>
        <p:nvSpPr>
          <p:cNvPr id="38" name="Shape 36"/>
          <p:cNvSpPr/>
          <p:nvPr/>
        </p:nvSpPr>
        <p:spPr>
          <a:xfrm>
            <a:off x="6080760" y="3977640"/>
            <a:ext cx="0" cy="338328"/>
          </a:xfrm>
          <a:prstGeom prst="line">
            <a:avLst/>
          </a:prstGeom>
          <a:noFill/>
          <a:ln w="16510">
            <a:solidFill>
              <a:srgbClr val="034EA2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8284464" y="2907792"/>
            <a:ext cx="3127248" cy="1024128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284464" y="2907792"/>
            <a:ext cx="73152" cy="1024128"/>
          </a:xfrm>
          <a:prstGeom prst="rect">
            <a:avLst/>
          </a:prstGeom>
          <a:solidFill>
            <a:srgbClr val="22B573"/>
          </a:solidFill>
          <a:ln w="7620">
            <a:solidFill>
              <a:srgbClr val="22B573">
                <a:alpha val="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531352" y="3200400"/>
            <a:ext cx="2633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RISK SCORER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8540496" y="3547872"/>
            <a:ext cx="259689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Rule minh bạch</a:t>
            </a:r>
            <a:endParaRPr lang="en-US" sz="820" dirty="0"/>
          </a:p>
        </p:txBody>
      </p:sp>
      <p:sp>
        <p:nvSpPr>
          <p:cNvPr id="43" name="Shape 41"/>
          <p:cNvSpPr/>
          <p:nvPr/>
        </p:nvSpPr>
        <p:spPr>
          <a:xfrm>
            <a:off x="9848088" y="3977640"/>
            <a:ext cx="0" cy="338328"/>
          </a:xfrm>
          <a:prstGeom prst="line">
            <a:avLst/>
          </a:prstGeom>
          <a:noFill/>
          <a:ln w="16510">
            <a:solidFill>
              <a:srgbClr val="22B573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749808" y="4407408"/>
            <a:ext cx="3127248" cy="914400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49808" y="4407408"/>
            <a:ext cx="73152" cy="914400"/>
          </a:xfrm>
          <a:prstGeom prst="rect">
            <a:avLst/>
          </a:prstGeom>
          <a:solidFill>
            <a:srgbClr val="F37021"/>
          </a:solidFill>
          <a:ln w="7620">
            <a:solidFill>
              <a:srgbClr val="F37021">
                <a:alpha val="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78408" y="4663440"/>
            <a:ext cx="2651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37021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EVENT WINDOW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1005840" y="4983480"/>
            <a:ext cx="2596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Thời điểm + mức độ</a:t>
            </a:r>
            <a:endParaRPr lang="en-US" sz="830" dirty="0"/>
          </a:p>
        </p:txBody>
      </p:sp>
      <p:sp>
        <p:nvSpPr>
          <p:cNvPr id="48" name="Shape 46"/>
          <p:cNvSpPr/>
          <p:nvPr/>
        </p:nvSpPr>
        <p:spPr>
          <a:xfrm>
            <a:off x="4517136" y="4407408"/>
            <a:ext cx="3127248" cy="914400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517136" y="4407408"/>
            <a:ext cx="73152" cy="914400"/>
          </a:xfrm>
          <a:prstGeom prst="rect">
            <a:avLst/>
          </a:prstGeom>
          <a:solidFill>
            <a:srgbClr val="22B573"/>
          </a:solidFill>
          <a:ln w="7620">
            <a:solidFill>
              <a:srgbClr val="22B573">
                <a:alpha val="0"/>
              </a:srgbClr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745736" y="4663440"/>
            <a:ext cx="2651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B57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TRIP SCORE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4773168" y="4983480"/>
            <a:ext cx="2596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Điểm theo rule</a:t>
            </a:r>
            <a:endParaRPr lang="en-US" sz="830" dirty="0"/>
          </a:p>
        </p:txBody>
      </p:sp>
      <p:sp>
        <p:nvSpPr>
          <p:cNvPr id="52" name="Shape 50"/>
          <p:cNvSpPr/>
          <p:nvPr/>
        </p:nvSpPr>
        <p:spPr>
          <a:xfrm>
            <a:off x="8284464" y="4407408"/>
            <a:ext cx="3127248" cy="914400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284464" y="4407408"/>
            <a:ext cx="73152" cy="914400"/>
          </a:xfrm>
          <a:prstGeom prst="rect">
            <a:avLst/>
          </a:prstGeom>
          <a:solidFill>
            <a:srgbClr val="034EA2"/>
          </a:solidFill>
          <a:ln w="7620">
            <a:solidFill>
              <a:srgbClr val="034EA2">
                <a:alpha val="0"/>
              </a:srgbClr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513064" y="4663440"/>
            <a:ext cx="2651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34EA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COACHING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540496" y="4983480"/>
            <a:ext cx="2596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Hành động có evidence</a:t>
            </a:r>
            <a:endParaRPr lang="en-US" sz="830" dirty="0"/>
          </a:p>
        </p:txBody>
      </p:sp>
      <p:sp>
        <p:nvSpPr>
          <p:cNvPr id="56" name="Text 54"/>
          <p:cNvSpPr/>
          <p:nvPr/>
        </p:nvSpPr>
        <p:spPr>
          <a:xfrm>
            <a:off x="548640" y="6071616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i="1" dirty="0">
                <a:solidFill>
                  <a:srgbClr val="3450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Signal flow: input → intelligence → evidence-linked coaching.</a:t>
            </a:r>
            <a:endParaRPr lang="en-US" sz="9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37021"/>
          </a:solidFill>
          <a:ln w="7620">
            <a:solidFill>
              <a:srgbClr val="F37021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38912"/>
            <a:ext cx="5486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30" kern="0" dirty="0">
                <a:solidFill>
                  <a:srgbClr val="F37021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SẴN SÀNG TRÌNH DIỄN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548640" y="694944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MỘT LUỒNG QUYẾT ĐỊNH HOÀN CHỈNH CHO FLEET MANAGER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57784" y="126187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Từ chuyến cần xem đến coaching, mọi bước đều có ngữ cảnh để người vận hành hành động.</a:t>
            </a:r>
            <a:endParaRPr lang="en-US" sz="1080" dirty="0"/>
          </a:p>
        </p:txBody>
      </p:sp>
      <p:sp>
        <p:nvSpPr>
          <p:cNvPr id="6" name="Shape 4"/>
          <p:cNvSpPr/>
          <p:nvPr/>
        </p:nvSpPr>
        <p:spPr>
          <a:xfrm>
            <a:off x="512064" y="6464808"/>
            <a:ext cx="11155680" cy="0"/>
          </a:xfrm>
          <a:prstGeom prst="line">
            <a:avLst/>
          </a:prstGeom>
          <a:noFill/>
          <a:ln w="16510">
            <a:solidFill>
              <a:srgbClr val="CDCCCC"/>
            </a:solidFill>
            <a:prstDash val="solid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548640" y="6556248"/>
            <a:ext cx="7315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UchiHahaha | FleetIQ Guardian | AUTOMOTIVE HACKATHON 2026</a:t>
            </a:r>
            <a:endParaRPr lang="en-US" sz="740" dirty="0"/>
          </a:p>
        </p:txBody>
      </p:sp>
      <p:sp>
        <p:nvSpPr>
          <p:cNvPr id="8" name="Text 6"/>
          <p:cNvSpPr/>
          <p:nvPr/>
        </p:nvSpPr>
        <p:spPr>
          <a:xfrm>
            <a:off x="11027664" y="6510528"/>
            <a:ext cx="5943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34EA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76656" y="1874520"/>
            <a:ext cx="3236976" cy="2194560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76656" y="1874520"/>
            <a:ext cx="73152" cy="2194560"/>
          </a:xfrm>
          <a:prstGeom prst="rect">
            <a:avLst/>
          </a:prstGeom>
          <a:solidFill>
            <a:srgbClr val="034EA2"/>
          </a:solidFill>
          <a:ln w="7620">
            <a:solidFill>
              <a:srgbClr val="034EA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50976" y="2157984"/>
            <a:ext cx="1005840" cy="256032"/>
          </a:xfrm>
          <a:prstGeom prst="rect">
            <a:avLst/>
          </a:prstGeom>
          <a:solidFill>
            <a:srgbClr val="034EA2"/>
          </a:solidFill>
          <a:ln w="7620">
            <a:solidFill>
              <a:srgbClr val="034EA2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42416" y="2231136"/>
            <a:ext cx="8229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MỞ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950976" y="269748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Chọn đúng chuyến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50976" y="3227832"/>
            <a:ext cx="24871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Dashboard hiển thị điểm theo rule và những event cần ưu tiên xem lại.</a:t>
            </a:r>
            <a:endParaRPr lang="en-US" sz="930" dirty="0"/>
          </a:p>
        </p:txBody>
      </p:sp>
      <p:sp>
        <p:nvSpPr>
          <p:cNvPr id="15" name="Shape 13"/>
          <p:cNvSpPr/>
          <p:nvPr/>
        </p:nvSpPr>
        <p:spPr>
          <a:xfrm>
            <a:off x="4407408" y="1874520"/>
            <a:ext cx="3236976" cy="2194560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07408" y="1874520"/>
            <a:ext cx="73152" cy="2194560"/>
          </a:xfrm>
          <a:prstGeom prst="rect">
            <a:avLst/>
          </a:prstGeom>
          <a:solidFill>
            <a:srgbClr val="F37021"/>
          </a:solidFill>
          <a:ln w="7620">
            <a:solidFill>
              <a:srgbClr val="F37021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81728" y="2157984"/>
            <a:ext cx="1005840" cy="256032"/>
          </a:xfrm>
          <a:prstGeom prst="rect">
            <a:avLst/>
          </a:prstGeom>
          <a:solidFill>
            <a:srgbClr val="F37021"/>
          </a:solidFill>
          <a:ln w="7620">
            <a:solidFill>
              <a:srgbClr val="F37021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73168" y="2231136"/>
            <a:ext cx="8229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KIỂM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4681728" y="269748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Xem đúng bối cảnh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681728" y="3227832"/>
            <a:ext cx="24871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Timeline mở camera đường, DMS và telemetry tại cùng một khung hình.</a:t>
            </a:r>
            <a:endParaRPr lang="en-US" sz="930" dirty="0"/>
          </a:p>
        </p:txBody>
      </p:sp>
      <p:sp>
        <p:nvSpPr>
          <p:cNvPr id="21" name="Shape 19"/>
          <p:cNvSpPr/>
          <p:nvPr/>
        </p:nvSpPr>
        <p:spPr>
          <a:xfrm>
            <a:off x="8138160" y="1874520"/>
            <a:ext cx="3236976" cy="2194560"/>
          </a:xfrm>
          <a:prstGeom prst="rect">
            <a:avLst/>
          </a:prstGeom>
          <a:solidFill>
            <a:srgbClr val="FFFFFF"/>
          </a:solidFill>
          <a:ln w="7620">
            <a:solidFill>
              <a:srgbClr val="CDCCC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38160" y="1874520"/>
            <a:ext cx="73152" cy="2194560"/>
          </a:xfrm>
          <a:prstGeom prst="rect">
            <a:avLst/>
          </a:prstGeom>
          <a:solidFill>
            <a:srgbClr val="22B573"/>
          </a:solidFill>
          <a:ln w="7620">
            <a:solidFill>
              <a:srgbClr val="22B573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12480" y="2157984"/>
            <a:ext cx="1005840" cy="256032"/>
          </a:xfrm>
          <a:prstGeom prst="rect">
            <a:avLst/>
          </a:prstGeom>
          <a:solidFill>
            <a:srgbClr val="22B573"/>
          </a:solidFill>
          <a:ln w="7620">
            <a:solidFill>
              <a:srgbClr val="22B573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03920" y="2231136"/>
            <a:ext cx="8229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HÀNH ĐỘNG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8412480" y="269748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9226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Gán coaching rõ ràng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412480" y="3227832"/>
            <a:ext cx="24871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dirty="0">
                <a:solidFill>
                  <a:srgbClr val="6B7A9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Kết thúc bằng hướng dẫn liên kết với bằng chứng, không phải cảnh báo chung chung.</a:t>
            </a:r>
            <a:endParaRPr lang="en-US" sz="930" dirty="0"/>
          </a:p>
        </p:txBody>
      </p:sp>
      <p:sp>
        <p:nvSpPr>
          <p:cNvPr id="27" name="Shape 25"/>
          <p:cNvSpPr/>
          <p:nvPr/>
        </p:nvSpPr>
        <p:spPr>
          <a:xfrm>
            <a:off x="676656" y="4535424"/>
            <a:ext cx="10789920" cy="850392"/>
          </a:xfrm>
          <a:prstGeom prst="rect">
            <a:avLst/>
          </a:prstGeom>
          <a:solidFill>
            <a:srgbClr val="19226D"/>
          </a:solidFill>
          <a:ln w="7620">
            <a:solidFill>
              <a:srgbClr val="19226D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4818888"/>
            <a:ext cx="10287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MVP ĐÃ SẴN SÀNG: dashboard · trip replay · event evidence · điểm theo rule · coaching có ngữ cảnh.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48640" y="6071616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i="1" dirty="0">
                <a:solidFill>
                  <a:srgbClr val="34506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Demo flow: dashboard → chuyến rủi ro → timeline → evidence → điểm theo rule → coaching.</a:t>
            </a:r>
            <a:endParaRPr lang="en-US" sz="9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9226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37021"/>
          </a:solidFill>
          <a:ln w="7620">
            <a:solidFill>
              <a:srgbClr val="F3702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" y="621792"/>
            <a:ext cx="1874520" cy="256032"/>
          </a:xfrm>
          <a:prstGeom prst="rect">
            <a:avLst/>
          </a:prstGeom>
          <a:solidFill>
            <a:srgbClr val="F37021"/>
          </a:solidFill>
          <a:ln w="7620">
            <a:solidFill>
              <a:srgbClr val="F37021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694944"/>
            <a:ext cx="16916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TRÌNH DIỄN TRONG 3 PHÚT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54406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TỪ RỦI RO ĐẾN</a:t>
            </a:r>
            <a:endParaRPr lang="en-US" sz="3100" dirty="0"/>
          </a:p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COACHING CÓ CĂN CỨ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676656" y="2743200"/>
            <a:ext cx="393192" cy="283464"/>
          </a:xfrm>
          <a:prstGeom prst="rect">
            <a:avLst/>
          </a:prstGeom>
          <a:solidFill>
            <a:srgbClr val="034EA2"/>
          </a:solidFill>
          <a:ln w="7620">
            <a:solidFill>
              <a:srgbClr val="034EA2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825496"/>
            <a:ext cx="3200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01</a:t>
            </a:r>
            <a:endParaRPr lang="en-US" sz="730" dirty="0"/>
          </a:p>
        </p:txBody>
      </p:sp>
      <p:sp>
        <p:nvSpPr>
          <p:cNvPr id="8" name="Text 6"/>
          <p:cNvSpPr/>
          <p:nvPr/>
        </p:nvSpPr>
        <p:spPr>
          <a:xfrm>
            <a:off x="1298448" y="2798064"/>
            <a:ext cx="3383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Mở chuyến cần kiểm tra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76656" y="3246120"/>
            <a:ext cx="393192" cy="283464"/>
          </a:xfrm>
          <a:prstGeom prst="rect">
            <a:avLst/>
          </a:prstGeom>
          <a:solidFill>
            <a:srgbClr val="034EA2"/>
          </a:solidFill>
          <a:ln w="7620">
            <a:solidFill>
              <a:srgbClr val="034EA2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3328416"/>
            <a:ext cx="3200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02</a:t>
            </a:r>
            <a:endParaRPr lang="en-US" sz="730" dirty="0"/>
          </a:p>
        </p:txBody>
      </p:sp>
      <p:sp>
        <p:nvSpPr>
          <p:cNvPr id="11" name="Text 9"/>
          <p:cNvSpPr/>
          <p:nvPr/>
        </p:nvSpPr>
        <p:spPr>
          <a:xfrm>
            <a:off x="1298448" y="3300984"/>
            <a:ext cx="3383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Chọn sự kiện theo dòng thời gian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76656" y="3749040"/>
            <a:ext cx="393192" cy="283464"/>
          </a:xfrm>
          <a:prstGeom prst="rect">
            <a:avLst/>
          </a:prstGeom>
          <a:solidFill>
            <a:srgbClr val="034EA2"/>
          </a:solidFill>
          <a:ln w="7620">
            <a:solidFill>
              <a:srgbClr val="034EA2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3831336"/>
            <a:ext cx="3200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03</a:t>
            </a:r>
            <a:endParaRPr lang="en-US" sz="730" dirty="0"/>
          </a:p>
        </p:txBody>
      </p:sp>
      <p:sp>
        <p:nvSpPr>
          <p:cNvPr id="14" name="Text 12"/>
          <p:cNvSpPr/>
          <p:nvPr/>
        </p:nvSpPr>
        <p:spPr>
          <a:xfrm>
            <a:off x="1298448" y="3803904"/>
            <a:ext cx="3383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Xem camera, DMS và telemetry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76656" y="4251960"/>
            <a:ext cx="393192" cy="283464"/>
          </a:xfrm>
          <a:prstGeom prst="rect">
            <a:avLst/>
          </a:prstGeom>
          <a:solidFill>
            <a:srgbClr val="034EA2"/>
          </a:solidFill>
          <a:ln w="7620">
            <a:solidFill>
              <a:srgbClr val="034EA2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3232" y="4334256"/>
            <a:ext cx="3200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04</a:t>
            </a:r>
            <a:endParaRPr lang="en-US" sz="730" dirty="0"/>
          </a:p>
        </p:txBody>
      </p:sp>
      <p:sp>
        <p:nvSpPr>
          <p:cNvPr id="17" name="Text 15"/>
          <p:cNvSpPr/>
          <p:nvPr/>
        </p:nvSpPr>
        <p:spPr>
          <a:xfrm>
            <a:off x="1298448" y="4306824"/>
            <a:ext cx="3383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Kiểm tra bằng chứng liên kết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76656" y="4754880"/>
            <a:ext cx="393192" cy="283464"/>
          </a:xfrm>
          <a:prstGeom prst="rect">
            <a:avLst/>
          </a:prstGeom>
          <a:solidFill>
            <a:srgbClr val="F37021"/>
          </a:solidFill>
          <a:ln w="7620">
            <a:solidFill>
              <a:srgbClr val="F37021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4837176"/>
            <a:ext cx="3200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05</a:t>
            </a:r>
            <a:endParaRPr lang="en-US" sz="730" dirty="0"/>
          </a:p>
        </p:txBody>
      </p:sp>
      <p:sp>
        <p:nvSpPr>
          <p:cNvPr id="20" name="Text 18"/>
          <p:cNvSpPr/>
          <p:nvPr/>
        </p:nvSpPr>
        <p:spPr>
          <a:xfrm>
            <a:off x="1298448" y="4809744"/>
            <a:ext cx="3383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Gán hướng dẫn phù hợp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537960" y="1060704"/>
            <a:ext cx="4544568" cy="4297680"/>
          </a:xfrm>
          <a:prstGeom prst="rect">
            <a:avLst/>
          </a:prstGeom>
          <a:solidFill>
            <a:srgbClr val="21367E"/>
          </a:solidFill>
          <a:ln w="7620">
            <a:solidFill>
              <a:srgbClr val="47628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31152" y="150876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37021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FLEETIQ GUARDIAN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086600" y="2194560"/>
            <a:ext cx="3429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Giúp quản lý đội xe hiểu rủi ro trước khi họ phải xem hàng giờ video.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132320" y="3246120"/>
            <a:ext cx="3364992" cy="694944"/>
          </a:xfrm>
          <a:prstGeom prst="rect">
            <a:avLst/>
          </a:prstGeom>
          <a:solidFill>
            <a:srgbClr val="034EA2"/>
          </a:solidFill>
          <a:ln w="7620">
            <a:solidFill>
              <a:srgbClr val="034EA2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33488" y="3456432"/>
            <a:ext cx="2962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TRIP REPLAY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EVIDENCE-LINKED COACHING</a:t>
            </a:r>
            <a:endParaRPr lang="en-US" sz="860" dirty="0"/>
          </a:p>
        </p:txBody>
      </p:sp>
      <p:sp>
        <p:nvSpPr>
          <p:cNvPr id="26" name="Text 24"/>
          <p:cNvSpPr/>
          <p:nvPr/>
        </p:nvSpPr>
        <p:spPr>
          <a:xfrm>
            <a:off x="6931152" y="443484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Cảm ơn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548640" y="6071616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i="1" dirty="0">
                <a:solidFill>
                  <a:srgbClr val="EAF2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FleetIQ Guardian · Challenge #3 · UchiHahaha.</a:t>
            </a:r>
            <a:endParaRPr lang="en-US" sz="980" dirty="0"/>
          </a:p>
        </p:txBody>
      </p:sp>
      <p:sp>
        <p:nvSpPr>
          <p:cNvPr id="28" name="Shape 26"/>
          <p:cNvSpPr/>
          <p:nvPr/>
        </p:nvSpPr>
        <p:spPr>
          <a:xfrm>
            <a:off x="512064" y="6464808"/>
            <a:ext cx="11155680" cy="0"/>
          </a:xfrm>
          <a:prstGeom prst="line">
            <a:avLst/>
          </a:prstGeom>
          <a:noFill/>
          <a:ln w="16510">
            <a:solidFill>
              <a:srgbClr val="47628E"/>
            </a:solidFill>
            <a:prstDash val="solid"/>
            <a:tailEnd type="none"/>
          </a:ln>
        </p:spPr>
      </p:sp>
      <p:sp>
        <p:nvSpPr>
          <p:cNvPr id="29" name="Text 27"/>
          <p:cNvSpPr/>
          <p:nvPr/>
        </p:nvSpPr>
        <p:spPr>
          <a:xfrm>
            <a:off x="548640" y="6556248"/>
            <a:ext cx="7315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AFC6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UchiHahaha | FleetIQ Guardian | AUTOMOTIVE HACKATHON 2026</a:t>
            </a:r>
            <a:endParaRPr lang="en-US" sz="740" dirty="0"/>
          </a:p>
        </p:txBody>
      </p:sp>
      <p:sp>
        <p:nvSpPr>
          <p:cNvPr id="30" name="Text 28"/>
          <p:cNvSpPr/>
          <p:nvPr/>
        </p:nvSpPr>
        <p:spPr>
          <a:xfrm>
            <a:off x="11027664" y="6510528"/>
            <a:ext cx="5943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37021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Quattrocento Sa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Quattrocento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UchiHahaha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FleetIQ Guardian - Chung kết</dc:title>
  <dc:subject>Automotive Hackathon 2026 - FleetIQ Guardian</dc:subject>
  <dc:creator>UchiHahaha</dc:creator>
  <cp:lastModifiedBy>UchiHahaha</cp:lastModifiedBy>
  <cp:revision>1</cp:revision>
  <dcterms:created xsi:type="dcterms:W3CDTF">2026-08-10T18:57:03Z</dcterms:created>
  <dcterms:modified xsi:type="dcterms:W3CDTF">2026-08-10T18:57:03Z</dcterms:modified>
</cp:coreProperties>
</file>